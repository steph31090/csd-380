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handoutMasterIdLst>
    <p:handoutMasterId r:id="rId14"/>
  </p:handoutMasterIdLst>
  <p:sldIdLst>
    <p:sldId id="257" r:id="rId5"/>
    <p:sldId id="268" r:id="rId6"/>
    <p:sldId id="272" r:id="rId7"/>
    <p:sldId id="273" r:id="rId8"/>
    <p:sldId id="274" r:id="rId9"/>
    <p:sldId id="275" r:id="rId10"/>
    <p:sldId id="276" r:id="rId11"/>
    <p:sldId id="277" r:id="rId12"/>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p:cViewPr varScale="1">
        <p:scale>
          <a:sx n="147" d="100"/>
          <a:sy n="147" d="100"/>
        </p:scale>
        <p:origin x="822" y="12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Lara" userId="00303e1d-983d-4719-8125-b3d729f23a57" providerId="ADAL" clId="{9247A955-788A-46FA-B041-A55AAB5F2D1A}"/>
    <pc:docChg chg="modSld">
      <pc:chgData name="Stephanie Lara" userId="00303e1d-983d-4719-8125-b3d729f23a57" providerId="ADAL" clId="{9247A955-788A-46FA-B041-A55AAB5F2D1A}" dt="2026-03-09T00:44:02.398" v="101" actId="20577"/>
      <pc:docMkLst>
        <pc:docMk/>
      </pc:docMkLst>
      <pc:sldChg chg="modSp mod">
        <pc:chgData name="Stephanie Lara" userId="00303e1d-983d-4719-8125-b3d729f23a57" providerId="ADAL" clId="{9247A955-788A-46FA-B041-A55AAB5F2D1A}" dt="2026-03-09T00:44:02.398" v="101" actId="20577"/>
        <pc:sldMkLst>
          <pc:docMk/>
          <pc:sldMk cId="3529114326" sldId="268"/>
        </pc:sldMkLst>
        <pc:spChg chg="mod">
          <ac:chgData name="Stephanie Lara" userId="00303e1d-983d-4719-8125-b3d729f23a57" providerId="ADAL" clId="{9247A955-788A-46FA-B041-A55AAB5F2D1A}" dt="2026-03-09T00:44:02.398" v="101" actId="20577"/>
          <ac:spMkLst>
            <pc:docMk/>
            <pc:sldMk cId="3529114326" sldId="268"/>
            <ac:spMk id="13" creationId="{00000000-0000-0000-0000-000000000000}"/>
          </ac:spMkLst>
        </pc:spChg>
      </pc:sldChg>
      <pc:sldChg chg="modSp mod">
        <pc:chgData name="Stephanie Lara" userId="00303e1d-983d-4719-8125-b3d729f23a57" providerId="ADAL" clId="{9247A955-788A-46FA-B041-A55AAB5F2D1A}" dt="2026-03-09T00:41:12.713" v="2" actId="20577"/>
        <pc:sldMkLst>
          <pc:docMk/>
          <pc:sldMk cId="1061866680" sldId="273"/>
        </pc:sldMkLst>
        <pc:spChg chg="mod">
          <ac:chgData name="Stephanie Lara" userId="00303e1d-983d-4719-8125-b3d729f23a57" providerId="ADAL" clId="{9247A955-788A-46FA-B041-A55AAB5F2D1A}" dt="2026-03-09T00:41:12.713" v="2" actId="20577"/>
          <ac:spMkLst>
            <pc:docMk/>
            <pc:sldMk cId="1061866680" sldId="273"/>
            <ac:spMk id="3" creationId="{5934A560-C2F9-1108-B238-3D69EA5A87C2}"/>
          </ac:spMkLst>
        </pc:spChg>
      </pc:sldChg>
      <pc:sldChg chg="modSp mod">
        <pc:chgData name="Stephanie Lara" userId="00303e1d-983d-4719-8125-b3d729f23a57" providerId="ADAL" clId="{9247A955-788A-46FA-B041-A55AAB5F2D1A}" dt="2026-03-09T00:40:52.996" v="1" actId="20577"/>
        <pc:sldMkLst>
          <pc:docMk/>
          <pc:sldMk cId="2726359158" sldId="276"/>
        </pc:sldMkLst>
        <pc:spChg chg="mod">
          <ac:chgData name="Stephanie Lara" userId="00303e1d-983d-4719-8125-b3d729f23a57" providerId="ADAL" clId="{9247A955-788A-46FA-B041-A55AAB5F2D1A}" dt="2026-03-09T00:40:52.996" v="1" actId="20577"/>
          <ac:spMkLst>
            <pc:docMk/>
            <pc:sldMk cId="2726359158" sldId="276"/>
            <ac:spMk id="2" creationId="{29A9EA05-C6A2-6264-4DDB-78E736CD7D8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3/8/2026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3/8/2026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3/8/2026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3/8/2026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3/8/2026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3/8/2026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3/8/2026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3/8/2026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3/8/2026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3/8/2026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3/8/2026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3/8/2026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3/8/2026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3/8/2026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chat.openai.com/chat" TargetMode="External"/><Relationship Id="rId2" Type="http://schemas.openxmlformats.org/officeDocument/2006/relationships/hyperlink" Target="https://www.codingdojo.com/blog/secure-coding-practices" TargetMode="External"/><Relationship Id="rId1" Type="http://schemas.openxmlformats.org/officeDocument/2006/relationships/slideLayout" Target="../slideLayouts/slideLayout2.xml"/><Relationship Id="rId6" Type="http://schemas.openxmlformats.org/officeDocument/2006/relationships/hyperlink" Target="https://databasecamp.de/en/python-coding/repositorys" TargetMode="External"/><Relationship Id="rId5" Type="http://schemas.openxmlformats.org/officeDocument/2006/relationships/hyperlink" Target="https://snyk.io/articles/securing-source-code-repositories/" TargetMode="External"/><Relationship Id="rId4" Type="http://schemas.openxmlformats.org/officeDocument/2006/relationships/hyperlink" Target="https://checkmarx.com/supply-chain-security/repository-health-monitoring-part-2-essential-practices-for-secure-repositories/?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Security Controls in Shared Source Code</a:t>
            </a:r>
          </a:p>
        </p:txBody>
      </p:sp>
      <p:sp>
        <p:nvSpPr>
          <p:cNvPr id="5" name="Subtitle 4"/>
          <p:cNvSpPr>
            <a:spLocks noGrp="1"/>
          </p:cNvSpPr>
          <p:nvPr>
            <p:ph type="subTitle" idx="1"/>
          </p:nvPr>
        </p:nvSpPr>
        <p:spPr>
          <a:xfrm>
            <a:off x="379412" y="4800600"/>
            <a:ext cx="8735325" cy="1752600"/>
          </a:xfrm>
        </p:spPr>
        <p:txBody>
          <a:bodyPr/>
          <a:lstStyle/>
          <a:p>
            <a:r>
              <a:rPr lang="en-US" dirty="0"/>
              <a:t>Stephanie Lara</a:t>
            </a:r>
          </a:p>
          <a:p>
            <a:r>
              <a:rPr lang="en-US" dirty="0"/>
              <a:t>Module 11.2 Assignment</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Security Risks in Shared Source </a:t>
            </a:r>
            <a:r>
              <a:rPr lang="en-US"/>
              <a:t>Code Repositories</a:t>
            </a:r>
            <a:endParaRPr lang="en-US" dirty="0"/>
          </a:p>
        </p:txBody>
      </p:sp>
      <p:sp>
        <p:nvSpPr>
          <p:cNvPr id="14" name="Content Placeholder 13"/>
          <p:cNvSpPr>
            <a:spLocks noGrp="1"/>
          </p:cNvSpPr>
          <p:nvPr>
            <p:ph sz="half" idx="1"/>
          </p:nvPr>
        </p:nvSpPr>
        <p:spPr/>
        <p:txBody>
          <a:bodyPr/>
          <a:lstStyle/>
          <a:p>
            <a:pPr marL="0" indent="0">
              <a:buNone/>
            </a:pPr>
            <a:r>
              <a:rPr lang="en-US" dirty="0"/>
              <a:t>Shared repositories such as GitHub and GitLab allow teams to collaborate on code. However, without security controls, these repositories can expose sensitive information. Security practices help protect software and prevent unauthorized changes (Tal, n.d.).</a:t>
            </a:r>
          </a:p>
        </p:txBody>
      </p:sp>
      <p:pic>
        <p:nvPicPr>
          <p:cNvPr id="4" name="Content Placeholder 3">
            <a:extLst>
              <a:ext uri="{FF2B5EF4-FFF2-40B4-BE49-F238E27FC236}">
                <a16:creationId xmlns:a16="http://schemas.microsoft.com/office/drawing/2014/main" id="{7CD02F2E-BC88-DB43-AC5A-ACD509A6E482}"/>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500972" y="1706880"/>
            <a:ext cx="5078412" cy="3516841"/>
          </a:xfrm>
          <a:prstGeom prst="rect">
            <a:avLst/>
          </a:prstGeom>
        </p:spPr>
      </p:pic>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9AB8-1188-918E-6DAB-CE50B259F3A0}"/>
              </a:ext>
            </a:extLst>
          </p:cNvPr>
          <p:cNvSpPr>
            <a:spLocks noGrp="1"/>
          </p:cNvSpPr>
          <p:nvPr>
            <p:ph type="title"/>
          </p:nvPr>
        </p:nvSpPr>
        <p:spPr/>
        <p:txBody>
          <a:bodyPr/>
          <a:lstStyle/>
          <a:p>
            <a:r>
              <a:rPr lang="en-US" dirty="0"/>
              <a:t>Repository Security Best Practices</a:t>
            </a:r>
          </a:p>
        </p:txBody>
      </p:sp>
      <p:sp>
        <p:nvSpPr>
          <p:cNvPr id="3" name="Content Placeholder 2">
            <a:extLst>
              <a:ext uri="{FF2B5EF4-FFF2-40B4-BE49-F238E27FC236}">
                <a16:creationId xmlns:a16="http://schemas.microsoft.com/office/drawing/2014/main" id="{B2BD29D3-DCD5-07C3-0761-169CD1A91CC8}"/>
              </a:ext>
            </a:extLst>
          </p:cNvPr>
          <p:cNvSpPr>
            <a:spLocks noGrp="1"/>
          </p:cNvSpPr>
          <p:nvPr>
            <p:ph idx="1"/>
          </p:nvPr>
        </p:nvSpPr>
        <p:spPr/>
        <p:txBody>
          <a:bodyPr/>
          <a:lstStyle/>
          <a:p>
            <a:r>
              <a:rPr lang="en-US" b="1" i="1" dirty="0"/>
              <a:t>Code Review Before Merge</a:t>
            </a:r>
          </a:p>
          <a:p>
            <a:pPr lvl="1"/>
            <a:r>
              <a:rPr lang="en-US" dirty="0"/>
              <a:t>Changes should be reviewed by another developer before being merged into the main codebase.</a:t>
            </a:r>
          </a:p>
          <a:p>
            <a:pPr lvl="1"/>
            <a:r>
              <a:rPr lang="en-US" dirty="0"/>
              <a:t>Helps identify vulnerabilities and errors early (Rose, 2025).</a:t>
            </a:r>
          </a:p>
          <a:p>
            <a:endParaRPr lang="en-US" b="1" i="1" dirty="0"/>
          </a:p>
          <a:p>
            <a:r>
              <a:rPr lang="en-US" b="1" i="1" dirty="0"/>
              <a:t>Branch Protection</a:t>
            </a:r>
          </a:p>
          <a:p>
            <a:pPr lvl="1"/>
            <a:r>
              <a:rPr lang="en-US" dirty="0"/>
              <a:t>Prevents direct changes to critical branches such as main.</a:t>
            </a:r>
          </a:p>
          <a:p>
            <a:pPr lvl="1"/>
            <a:r>
              <a:rPr lang="en-US" dirty="0"/>
              <a:t>Requires approvals and testing before code is merged (Rose, 2025).</a:t>
            </a:r>
          </a:p>
        </p:txBody>
      </p:sp>
    </p:spTree>
    <p:extLst>
      <p:ext uri="{BB962C8B-B14F-4D97-AF65-F5344CB8AC3E}">
        <p14:creationId xmlns:p14="http://schemas.microsoft.com/office/powerpoint/2010/main" val="4099461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E8AE-F3CD-2C5F-075F-DE2F80DC9927}"/>
              </a:ext>
            </a:extLst>
          </p:cNvPr>
          <p:cNvSpPr>
            <a:spLocks noGrp="1"/>
          </p:cNvSpPr>
          <p:nvPr>
            <p:ph type="title"/>
          </p:nvPr>
        </p:nvSpPr>
        <p:spPr/>
        <p:txBody>
          <a:bodyPr/>
          <a:lstStyle/>
          <a:p>
            <a:r>
              <a:rPr lang="en-US" dirty="0"/>
              <a:t>Repository Security Best Practices</a:t>
            </a:r>
          </a:p>
        </p:txBody>
      </p:sp>
      <p:sp>
        <p:nvSpPr>
          <p:cNvPr id="3" name="Content Placeholder 2">
            <a:extLst>
              <a:ext uri="{FF2B5EF4-FFF2-40B4-BE49-F238E27FC236}">
                <a16:creationId xmlns:a16="http://schemas.microsoft.com/office/drawing/2014/main" id="{5934A560-C2F9-1108-B238-3D69EA5A87C2}"/>
              </a:ext>
            </a:extLst>
          </p:cNvPr>
          <p:cNvSpPr>
            <a:spLocks noGrp="1"/>
          </p:cNvSpPr>
          <p:nvPr>
            <p:ph idx="1"/>
          </p:nvPr>
        </p:nvSpPr>
        <p:spPr/>
        <p:txBody>
          <a:bodyPr/>
          <a:lstStyle/>
          <a:p>
            <a:r>
              <a:rPr lang="en-US" b="1" i="1" dirty="0"/>
              <a:t>Pinned Dependencies</a:t>
            </a:r>
          </a:p>
          <a:p>
            <a:pPr lvl="1"/>
            <a:r>
              <a:rPr lang="en-US" dirty="0"/>
              <a:t>Specify exact versions of libraries and packages.</a:t>
            </a:r>
          </a:p>
          <a:p>
            <a:pPr lvl="1"/>
            <a:r>
              <a:rPr lang="en-US" dirty="0"/>
              <a:t>Prevents unexpected updates and supply chain attacks (Rose, 2025).</a:t>
            </a:r>
          </a:p>
          <a:p>
            <a:pPr lvl="1"/>
            <a:endParaRPr lang="en-US" dirty="0"/>
          </a:p>
          <a:p>
            <a:r>
              <a:rPr lang="en-US" b="1" i="1" dirty="0"/>
              <a:t>Use Maintained Dependencies</a:t>
            </a:r>
          </a:p>
          <a:p>
            <a:pPr lvl="1"/>
            <a:r>
              <a:rPr lang="en-US" dirty="0"/>
              <a:t>Use libraries that receive regular updates and security patches.</a:t>
            </a:r>
          </a:p>
          <a:p>
            <a:pPr lvl="1"/>
            <a:r>
              <a:rPr lang="en-US" dirty="0"/>
              <a:t>Reduces the risk of using vulnerable or outdated software (Rose, 2025).</a:t>
            </a:r>
          </a:p>
        </p:txBody>
      </p:sp>
    </p:spTree>
    <p:extLst>
      <p:ext uri="{BB962C8B-B14F-4D97-AF65-F5344CB8AC3E}">
        <p14:creationId xmlns:p14="http://schemas.microsoft.com/office/powerpoint/2010/main" val="106186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4CF2D-F5A2-280E-C0C0-1071DA5606EF}"/>
              </a:ext>
            </a:extLst>
          </p:cNvPr>
          <p:cNvSpPr>
            <a:spLocks noGrp="1"/>
          </p:cNvSpPr>
          <p:nvPr>
            <p:ph type="title"/>
          </p:nvPr>
        </p:nvSpPr>
        <p:spPr/>
        <p:txBody>
          <a:bodyPr/>
          <a:lstStyle/>
          <a:p>
            <a:r>
              <a:rPr lang="en-US" dirty="0"/>
              <a:t>Repository Security Best Practices</a:t>
            </a:r>
          </a:p>
        </p:txBody>
      </p:sp>
      <p:sp>
        <p:nvSpPr>
          <p:cNvPr id="3" name="Content Placeholder 2">
            <a:extLst>
              <a:ext uri="{FF2B5EF4-FFF2-40B4-BE49-F238E27FC236}">
                <a16:creationId xmlns:a16="http://schemas.microsoft.com/office/drawing/2014/main" id="{1E73E45E-A894-52DD-BC5F-0DC7F66967D1}"/>
              </a:ext>
            </a:extLst>
          </p:cNvPr>
          <p:cNvSpPr>
            <a:spLocks noGrp="1"/>
          </p:cNvSpPr>
          <p:nvPr>
            <p:ph idx="1"/>
          </p:nvPr>
        </p:nvSpPr>
        <p:spPr/>
        <p:txBody>
          <a:bodyPr/>
          <a:lstStyle/>
          <a:p>
            <a:r>
              <a:rPr lang="en-US" b="1" i="1" dirty="0"/>
              <a:t>Secrets Management</a:t>
            </a:r>
          </a:p>
          <a:p>
            <a:pPr lvl="1"/>
            <a:r>
              <a:rPr lang="en-US" dirty="0"/>
              <a:t>Avoid storing passwords or API keys directly in source code.</a:t>
            </a:r>
          </a:p>
          <a:p>
            <a:pPr lvl="1"/>
            <a:r>
              <a:rPr lang="en-US" dirty="0"/>
              <a:t>Use secure systems to manage sensitive information (Tal, n.d.).</a:t>
            </a:r>
          </a:p>
          <a:p>
            <a:pPr lvl="1"/>
            <a:endParaRPr lang="en-US" dirty="0"/>
          </a:p>
          <a:p>
            <a:r>
              <a:rPr lang="en-US" b="1" i="1" dirty="0"/>
              <a:t>Commit Signing</a:t>
            </a:r>
          </a:p>
          <a:p>
            <a:pPr lvl="1"/>
            <a:r>
              <a:rPr lang="en-US" dirty="0"/>
              <a:t>Cryptographically verify the identity of code contributors.</a:t>
            </a:r>
          </a:p>
          <a:p>
            <a:pPr lvl="1"/>
            <a:r>
              <a:rPr lang="en-US" dirty="0"/>
              <a:t>Ensure the authenticity of code changes (Tal, n.d.).</a:t>
            </a:r>
          </a:p>
        </p:txBody>
      </p:sp>
    </p:spTree>
    <p:extLst>
      <p:ext uri="{BB962C8B-B14F-4D97-AF65-F5344CB8AC3E}">
        <p14:creationId xmlns:p14="http://schemas.microsoft.com/office/powerpoint/2010/main" val="171421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2887-673E-76F8-7A12-9169BCB2D40F}"/>
              </a:ext>
            </a:extLst>
          </p:cNvPr>
          <p:cNvSpPr>
            <a:spLocks noGrp="1"/>
          </p:cNvSpPr>
          <p:nvPr>
            <p:ph type="title"/>
          </p:nvPr>
        </p:nvSpPr>
        <p:spPr/>
        <p:txBody>
          <a:bodyPr/>
          <a:lstStyle/>
          <a:p>
            <a:r>
              <a:rPr lang="en-US" dirty="0"/>
              <a:t>Repository Security Best Practices</a:t>
            </a:r>
          </a:p>
        </p:txBody>
      </p:sp>
      <p:sp>
        <p:nvSpPr>
          <p:cNvPr id="3" name="Content Placeholder 2">
            <a:extLst>
              <a:ext uri="{FF2B5EF4-FFF2-40B4-BE49-F238E27FC236}">
                <a16:creationId xmlns:a16="http://schemas.microsoft.com/office/drawing/2014/main" id="{8E53E2FA-1F7C-8954-B843-523BEBDE3850}"/>
              </a:ext>
            </a:extLst>
          </p:cNvPr>
          <p:cNvSpPr>
            <a:spLocks noGrp="1"/>
          </p:cNvSpPr>
          <p:nvPr>
            <p:ph idx="1"/>
          </p:nvPr>
        </p:nvSpPr>
        <p:spPr/>
        <p:txBody>
          <a:bodyPr/>
          <a:lstStyle/>
          <a:p>
            <a:r>
              <a:rPr lang="en-US" b="1" i="1" dirty="0"/>
              <a:t>Approve Security Libraries</a:t>
            </a:r>
          </a:p>
          <a:p>
            <a:pPr lvl="1"/>
            <a:r>
              <a:rPr lang="en-US" dirty="0"/>
              <a:t>Shared repositories can include approved security libraries such as authentication, encryption, and logging tools.</a:t>
            </a:r>
          </a:p>
          <a:p>
            <a:pPr lvl="1"/>
            <a:r>
              <a:rPr lang="en-US" dirty="0"/>
              <a:t>This helps developers use secure components that have already been reviewed by security teams (Kim et al., 2021).</a:t>
            </a:r>
          </a:p>
          <a:p>
            <a:pPr lvl="1"/>
            <a:endParaRPr lang="en-US" dirty="0"/>
          </a:p>
          <a:p>
            <a:r>
              <a:rPr lang="en-US" b="1" i="1" dirty="0"/>
              <a:t>Secure Container Registries</a:t>
            </a:r>
          </a:p>
          <a:p>
            <a:pPr lvl="1"/>
            <a:r>
              <a:rPr lang="en-US" dirty="0"/>
              <a:t>Container images should be stored in a secure registry.</a:t>
            </a:r>
          </a:p>
          <a:p>
            <a:pPr lvl="1"/>
            <a:r>
              <a:rPr lang="en-US" dirty="0"/>
              <a:t>Image hashes should be validated to ensure they have not been altered before deployment (Kim et al., 2021).</a:t>
            </a:r>
          </a:p>
        </p:txBody>
      </p:sp>
    </p:spTree>
    <p:extLst>
      <p:ext uri="{BB962C8B-B14F-4D97-AF65-F5344CB8AC3E}">
        <p14:creationId xmlns:p14="http://schemas.microsoft.com/office/powerpoint/2010/main" val="408984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9EA05-C6A2-6264-4DDB-78E736CD7D81}"/>
              </a:ext>
            </a:extLst>
          </p:cNvPr>
          <p:cNvSpPr>
            <a:spLocks noGrp="1"/>
          </p:cNvSpPr>
          <p:nvPr>
            <p:ph type="title"/>
          </p:nvPr>
        </p:nvSpPr>
        <p:spPr/>
        <p:txBody>
          <a:bodyPr/>
          <a:lstStyle/>
          <a:p>
            <a:r>
              <a:rPr lang="en-US" dirty="0"/>
              <a:t>Why Security Controls Matter</a:t>
            </a:r>
          </a:p>
        </p:txBody>
      </p:sp>
      <p:pic>
        <p:nvPicPr>
          <p:cNvPr id="6" name="Content Placeholder 5">
            <a:extLst>
              <a:ext uri="{FF2B5EF4-FFF2-40B4-BE49-F238E27FC236}">
                <a16:creationId xmlns:a16="http://schemas.microsoft.com/office/drawing/2014/main" id="{EE723432-6AB0-6595-B581-F099267BC99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19200" y="2492034"/>
            <a:ext cx="5078413" cy="2894695"/>
          </a:xfrm>
          <a:prstGeom prst="rect">
            <a:avLst/>
          </a:prstGeom>
        </p:spPr>
      </p:pic>
      <p:sp>
        <p:nvSpPr>
          <p:cNvPr id="4" name="Content Placeholder 3">
            <a:extLst>
              <a:ext uri="{FF2B5EF4-FFF2-40B4-BE49-F238E27FC236}">
                <a16:creationId xmlns:a16="http://schemas.microsoft.com/office/drawing/2014/main" id="{BC642D7D-036D-5CC6-7754-80A2C56EC4B4}"/>
              </a:ext>
            </a:extLst>
          </p:cNvPr>
          <p:cNvSpPr>
            <a:spLocks noGrp="1"/>
          </p:cNvSpPr>
          <p:nvPr>
            <p:ph sz="half" idx="2"/>
          </p:nvPr>
        </p:nvSpPr>
        <p:spPr/>
        <p:txBody>
          <a:bodyPr>
            <a:normAutofit fontScale="92500"/>
          </a:bodyPr>
          <a:lstStyle/>
          <a:p>
            <a:pPr marL="0" indent="0">
              <a:buNone/>
            </a:pPr>
            <a:r>
              <a:rPr lang="en-US" dirty="0"/>
              <a:t>Security controls in shared source code repositories matter because they help protect the code that the organization relies on. Without proper protections, attackers could modify code, introduce vulnerabilities, or gain access to sensitive information. Practices like code reviews, access controls, and security testing help teams catch problems early and keep applications more secure.</a:t>
            </a:r>
          </a:p>
          <a:p>
            <a:endParaRPr lang="en-US" dirty="0"/>
          </a:p>
        </p:txBody>
      </p:sp>
    </p:spTree>
    <p:extLst>
      <p:ext uri="{BB962C8B-B14F-4D97-AF65-F5344CB8AC3E}">
        <p14:creationId xmlns:p14="http://schemas.microsoft.com/office/powerpoint/2010/main" val="272635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CF285D-B46A-7C88-904D-076BC628FC64}"/>
              </a:ext>
            </a:extLst>
          </p:cNvPr>
          <p:cNvSpPr>
            <a:spLocks noGrp="1"/>
          </p:cNvSpPr>
          <p:nvPr>
            <p:ph type="title"/>
          </p:nvPr>
        </p:nvSpPr>
        <p:spPr/>
        <p:txBody>
          <a:bodyPr/>
          <a:lstStyle/>
          <a:p>
            <a:r>
              <a:rPr lang="en-US" dirty="0"/>
              <a:t>References</a:t>
            </a:r>
          </a:p>
        </p:txBody>
      </p:sp>
      <p:sp>
        <p:nvSpPr>
          <p:cNvPr id="8" name="Content Placeholder 7">
            <a:extLst>
              <a:ext uri="{FF2B5EF4-FFF2-40B4-BE49-F238E27FC236}">
                <a16:creationId xmlns:a16="http://schemas.microsoft.com/office/drawing/2014/main" id="{B9609254-00F1-7214-847B-E903B7158E84}"/>
              </a:ext>
            </a:extLst>
          </p:cNvPr>
          <p:cNvSpPr>
            <a:spLocks noGrp="1"/>
          </p:cNvSpPr>
          <p:nvPr>
            <p:ph idx="1"/>
          </p:nvPr>
        </p:nvSpPr>
        <p:spPr/>
        <p:txBody>
          <a:bodyPr>
            <a:normAutofit fontScale="77500" lnSpcReduction="20000"/>
          </a:bodyPr>
          <a:lstStyle/>
          <a:p>
            <a:pPr marL="0" indent="-457200">
              <a:buNone/>
            </a:pPr>
            <a:r>
              <a:rPr lang="en-US" dirty="0"/>
              <a:t>Kim, G., Humble, J., Debois, P., Willis, J., &amp; Forsgren, N. (2021). </a:t>
            </a:r>
            <a:r>
              <a:rPr lang="en-US" i="1" dirty="0"/>
              <a:t>The DevOps handbook: How to create world-class agility, reliability, and security in technology organizations</a:t>
            </a:r>
            <a:r>
              <a:rPr lang="en-US" dirty="0"/>
              <a:t> (2nd ed.). IT Revolution.</a:t>
            </a:r>
          </a:p>
          <a:p>
            <a:pPr marL="0" indent="-457200">
              <a:buNone/>
            </a:pPr>
            <a:r>
              <a:rPr lang="en-US" dirty="0"/>
              <a:t>Mitchell, B. (2022, December 19). </a:t>
            </a:r>
            <a:r>
              <a:rPr lang="en-US" i="1" dirty="0"/>
              <a:t>Top 10 secure coding practices for </a:t>
            </a:r>
            <a:r>
              <a:rPr lang="en-US" i="1" dirty="0" err="1"/>
              <a:t>devs</a:t>
            </a:r>
            <a:r>
              <a:rPr lang="en-US" i="1" dirty="0"/>
              <a:t> to know.</a:t>
            </a:r>
            <a:r>
              <a:rPr lang="en-US" dirty="0"/>
              <a:t> Coding Dojo. </a:t>
            </a:r>
            <a:r>
              <a:rPr lang="en-US" dirty="0">
                <a:hlinkClick r:id="rId2"/>
              </a:rPr>
              <a:t>https://www.codingdojo.com/blog/secure-coding-practices</a:t>
            </a:r>
            <a:endParaRPr lang="en-US" dirty="0"/>
          </a:p>
          <a:p>
            <a:pPr marL="0" indent="-457200">
              <a:buNone/>
            </a:pPr>
            <a:r>
              <a:rPr lang="en-US" dirty="0"/>
              <a:t>OpenAI. (2025). ChatGPT (40 </a:t>
            </a:r>
            <a:r>
              <a:rPr lang="en-US" dirty="0" err="1"/>
              <a:t>mimi</a:t>
            </a:r>
            <a:r>
              <a:rPr lang="en-US" dirty="0"/>
              <a:t>). </a:t>
            </a:r>
            <a:r>
              <a:rPr lang="en-US" u="sng" dirty="0">
                <a:hlinkClick r:id="rId3"/>
              </a:rPr>
              <a:t>https://chat.openai.com/chat</a:t>
            </a:r>
            <a:r>
              <a:rPr lang="en-US" dirty="0"/>
              <a:t> </a:t>
            </a:r>
          </a:p>
          <a:p>
            <a:pPr marL="0" indent="-457200">
              <a:buNone/>
            </a:pPr>
            <a:r>
              <a:rPr lang="en-US" dirty="0"/>
              <a:t>Rose, J. (2025, June 11). </a:t>
            </a:r>
            <a:r>
              <a:rPr lang="en-US" i="1" dirty="0"/>
              <a:t>Repository health monitoring part 2: Essential practices for secure repositories.</a:t>
            </a:r>
            <a:r>
              <a:rPr lang="en-US" dirty="0"/>
              <a:t> </a:t>
            </a:r>
            <a:r>
              <a:rPr lang="en-US" dirty="0" err="1"/>
              <a:t>Checkmarx</a:t>
            </a:r>
            <a:r>
              <a:rPr lang="en-US" dirty="0"/>
              <a:t>. </a:t>
            </a:r>
            <a:r>
              <a:rPr lang="en-US" dirty="0">
                <a:hlinkClick r:id="rId4"/>
              </a:rPr>
              <a:t>https://checkmarx.com/supply-chain-security/repository-health-monitoring-part-2-essential-practices-for-secure-repositories/</a:t>
            </a:r>
            <a:endParaRPr lang="en-US" dirty="0"/>
          </a:p>
          <a:p>
            <a:pPr marL="0" indent="-457200">
              <a:buNone/>
            </a:pPr>
            <a:r>
              <a:rPr lang="en-US" dirty="0"/>
              <a:t>Tal, L. (n.d.). </a:t>
            </a:r>
            <a:r>
              <a:rPr lang="en-US" i="1" dirty="0"/>
              <a:t>Securing source code in repositories is essential: How to get started.</a:t>
            </a:r>
            <a:r>
              <a:rPr lang="en-US" dirty="0"/>
              <a:t> </a:t>
            </a:r>
            <a:r>
              <a:rPr lang="en-US" dirty="0" err="1"/>
              <a:t>Snyk</a:t>
            </a:r>
            <a:r>
              <a:rPr lang="en-US" dirty="0"/>
              <a:t>. </a:t>
            </a:r>
            <a:r>
              <a:rPr lang="en-US" dirty="0">
                <a:hlinkClick r:id="rId5"/>
              </a:rPr>
              <a:t>https://snyk.io/articles/securing-source-code-repositories/</a:t>
            </a:r>
            <a:endParaRPr lang="en-US" dirty="0"/>
          </a:p>
          <a:p>
            <a:pPr marL="0" indent="-457200">
              <a:buNone/>
            </a:pPr>
            <a:r>
              <a:rPr lang="en-US" dirty="0"/>
              <a:t>Wulff, T. (n.d.). </a:t>
            </a:r>
            <a:r>
              <a:rPr lang="en-US" i="1" dirty="0"/>
              <a:t>Repositories in Python.</a:t>
            </a:r>
            <a:r>
              <a:rPr lang="en-US" dirty="0"/>
              <a:t> </a:t>
            </a:r>
            <a:r>
              <a:rPr lang="en-US" dirty="0" err="1"/>
              <a:t>DatabaseCamp</a:t>
            </a:r>
            <a:r>
              <a:rPr lang="en-US" dirty="0"/>
              <a:t>. </a:t>
            </a:r>
            <a:r>
              <a:rPr lang="en-US" dirty="0">
                <a:hlinkClick r:id="rId6"/>
              </a:rPr>
              <a:t>https://databasecamp.de/en/python-coding/repositorys</a:t>
            </a:r>
            <a:endParaRPr lang="en-US" dirty="0"/>
          </a:p>
        </p:txBody>
      </p:sp>
    </p:spTree>
    <p:extLst>
      <p:ext uri="{BB962C8B-B14F-4D97-AF65-F5344CB8AC3E}">
        <p14:creationId xmlns:p14="http://schemas.microsoft.com/office/powerpoint/2010/main" val="388124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84</TotalTime>
  <Words>567</Words>
  <Application>Microsoft Office PowerPoint</Application>
  <PresentationFormat>Custom</PresentationFormat>
  <Paragraphs>46</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Tech 16x9</vt:lpstr>
      <vt:lpstr>Security Controls in Shared Source Code</vt:lpstr>
      <vt:lpstr>Security Risks in Shared Source Code Repositories</vt:lpstr>
      <vt:lpstr>Repository Security Best Practices</vt:lpstr>
      <vt:lpstr>Repository Security Best Practices</vt:lpstr>
      <vt:lpstr>Repository Security Best Practices</vt:lpstr>
      <vt:lpstr>Repository Security Best Practices</vt:lpstr>
      <vt:lpstr>Why Security Controls Matter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Lara</dc:creator>
  <cp:lastModifiedBy>Stephanie Lara</cp:lastModifiedBy>
  <cp:revision>1</cp:revision>
  <dcterms:created xsi:type="dcterms:W3CDTF">2026-03-08T23:18:40Z</dcterms:created>
  <dcterms:modified xsi:type="dcterms:W3CDTF">2026-03-09T00:44:10Z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